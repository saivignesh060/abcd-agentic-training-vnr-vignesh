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Urbanis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.fntdata"/><Relationship Id="rId11" Type="http://schemas.openxmlformats.org/officeDocument/2006/relationships/slide" Target="slides/slide6.xml"/><Relationship Id="rId22" Type="http://schemas.openxmlformats.org/officeDocument/2006/relationships/font" Target="fonts/Urbanist-boldItalic.fntdata"/><Relationship Id="rId10" Type="http://schemas.openxmlformats.org/officeDocument/2006/relationships/slide" Target="slides/slide5.xml"/><Relationship Id="rId21" Type="http://schemas.openxmlformats.org/officeDocument/2006/relationships/font" Target="fonts/Urbanis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20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4.png"/><Relationship Id="rId7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7.png"/><Relationship Id="rId6" Type="http://schemas.openxmlformats.org/officeDocument/2006/relationships/image" Target="../media/image27.png"/><Relationship Id="rId7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9" Type="http://schemas.openxmlformats.org/officeDocument/2006/relationships/image" Target="../media/image24.png"/><Relationship Id="rId5" Type="http://schemas.openxmlformats.org/officeDocument/2006/relationships/image" Target="../media/image12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425541" y="2609850"/>
            <a:ext cx="734091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Stock Analyst Agent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600325" y="3714750"/>
            <a:ext cx="6991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0A0C0"/>
                </a:solidFill>
                <a:latin typeface="Urbanist"/>
                <a:ea typeface="Urbanist"/>
                <a:cs typeface="Urbanist"/>
                <a:sym typeface="Urbanist"/>
              </a:rPr>
              <a:t>An n8n Workflow for Real-Time Financial AI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190750" y="269557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Information Overload:</a:t>
            </a: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 Investors are flooded with disconnected data points: price charts, technical indicators, and breaking news.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190750" y="340042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Missing Context:</a:t>
            </a: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 It's difficult to find the "what" (price changes) and the "why" (news drivers) in one place, quickly.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190750" y="4105275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Manual Effort:</a:t>
            </a: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 Manually checking multiple APIs and Google for every stock is slow, repetitive, and not scalable.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190750" y="4552950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Insight vs. Data:</a:t>
            </a: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 We don't just want raw data; we want actionable *insight* derived from that data.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74320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4480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152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6005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Challenge: Data Overload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81025" y="2767012"/>
            <a:ext cx="52768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00FF99"/>
                </a:solidFill>
                <a:latin typeface="Urbanist"/>
                <a:ea typeface="Urbanist"/>
                <a:cs typeface="Urbanist"/>
                <a:sym typeface="Urbanist"/>
              </a:rPr>
              <a:t>1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81025" y="4195762"/>
            <a:ext cx="52768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Telegram Message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334125" y="27670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One Bot, Complete Analysis.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334125" y="3300412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We built an AI agent in n8n that does all the work. The user sends a single stock ticker (e.g., "MSFT").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334125" y="3986212"/>
            <a:ext cx="52768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The bot fetches technical data, gets the company name, uses a tool to search for live news, and syntesizes it all into a single, comprehensive report.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Solution: A "One-Message" Analyst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581025" y="3829050"/>
            <a:ext cx="11029950" cy="38100"/>
          </a:xfrm>
          <a:prstGeom prst="roundRect">
            <a:avLst>
              <a:gd fmla="val 16667" name="adj"/>
            </a:avLst>
          </a:prstGeom>
          <a:solidFill>
            <a:srgbClr val="3A3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517605" y="4086225"/>
            <a:ext cx="266361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F99"/>
                </a:solidFill>
                <a:latin typeface="Urbanist"/>
                <a:ea typeface="Urbanist"/>
                <a:cs typeface="Urbanist"/>
                <a:sym typeface="Urbanist"/>
              </a:rPr>
              <a:t>1. Trigger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81025" y="4533900"/>
            <a:ext cx="25367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User sends a stock ticker (e.g., "AAPL") to the Telegram Bot.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3348614" y="2219325"/>
            <a:ext cx="266361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F99"/>
                </a:solidFill>
                <a:latin typeface="Urbanist"/>
                <a:ea typeface="Urbanist"/>
                <a:cs typeface="Urbanist"/>
                <a:sym typeface="Urbanist"/>
              </a:rPr>
              <a:t>2. Fetch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3412033" y="2667000"/>
            <a:ext cx="25367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n8n fetches 3 parallel data streams from Alpha Vantage (Price, SMA, Overview).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179622" y="4086225"/>
            <a:ext cx="266361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F99"/>
                </a:solidFill>
                <a:latin typeface="Urbanist"/>
                <a:ea typeface="Urbanist"/>
                <a:cs typeface="Urbanist"/>
                <a:sym typeface="Urbanist"/>
              </a:rPr>
              <a:t>3. Analyze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243042" y="4533900"/>
            <a:ext cx="25367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The AI Agent analyzes the data and uses its SerpApi tool to find related news.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9010631" y="2219325"/>
            <a:ext cx="266361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F99"/>
                </a:solidFill>
                <a:latin typeface="Urbanist"/>
                <a:ea typeface="Urbanist"/>
                <a:cs typeface="Urbanist"/>
                <a:sym typeface="Urbanist"/>
              </a:rPr>
              <a:t>4. Reply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074050" y="2667000"/>
            <a:ext cx="25367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The AI synthesizes all information into a final analysis and sends it to the user.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1754162" y="37528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A1A2E"/>
          </a:solidFill>
          <a:ln cap="flat" cmpd="sng" w="38100">
            <a:solidFill>
              <a:srgbClr val="00F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4585171" y="37528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A1A2E"/>
          </a:solidFill>
          <a:ln cap="flat" cmpd="sng" w="38100">
            <a:solidFill>
              <a:srgbClr val="00F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7416179" y="37528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A1A2E"/>
          </a:solidFill>
          <a:ln cap="flat" cmpd="sng" w="38100">
            <a:solidFill>
              <a:srgbClr val="00F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10247188" y="37528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A1A2E"/>
          </a:solidFill>
          <a:ln cap="flat" cmpd="sng" w="38100">
            <a:solidFill>
              <a:srgbClr val="00F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High-Level Workflow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81025" y="2181225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Parallel Data, One Agent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81025" y="2714625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The workflow is designed for speed and power. It runs three data-fetching branches in parallel: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81025" y="4629150"/>
            <a:ext cx="45111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A `Merge` node waits for all three to complete, combining them into a single data object for the AI agent.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790575" y="34004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19150" y="340042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Fetches 5-Day Price History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790575" y="38004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19150" y="380047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Fetches 20-Day Simple Moving Average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790575" y="42005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19150" y="420052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Fetches Company Overview (for the name)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Workflow Architecture</a:t>
            </a:r>
            <a:endParaRPr/>
          </a:p>
        </p:txBody>
      </p:sp>
      <p:pic>
        <p:nvPicPr>
          <p:cNvPr id="146" name="Google Shape;146;p17"/>
          <p:cNvPicPr preferRelativeResize="0"/>
          <p:nvPr/>
        </p:nvPicPr>
        <p:blipFill rotWithShape="1">
          <a:blip r:embed="rId4">
            <a:alphaModFix/>
          </a:blip>
          <a:srcRect b="10174" l="0" r="6050" t="-4124"/>
          <a:stretch/>
        </p:blipFill>
        <p:spPr>
          <a:xfrm>
            <a:off x="5497999" y="2104799"/>
            <a:ext cx="6317026" cy="284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86012"/>
            <a:ext cx="342260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2386012"/>
            <a:ext cx="342260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2386012"/>
            <a:ext cx="3422600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1457146" y="3395662"/>
            <a:ext cx="167020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Daily Prices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876300" y="4071937"/>
            <a:ext cx="28320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The `TIME_SERIES_DAILY` endpoint provides the 5-day price trend.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265747" y="3395662"/>
            <a:ext cx="166020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Momentum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4679900" y="4071937"/>
            <a:ext cx="28320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The `SMA` endpoint provides the 20-day Simple Moving Average.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9324379" y="3395662"/>
            <a:ext cx="115014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Context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483500" y="4071937"/>
            <a:ext cx="28320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The `OVERVIEW` endpoint provides the company's full name for the news search.</a:t>
            </a:r>
            <a:endParaRPr/>
          </a:p>
        </p:txBody>
      </p:sp>
      <p:pic>
        <p:nvPicPr>
          <p:cNvPr descr="image.png" id="161" name="Google Shape;1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101" y="27003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28001" y="2700337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Part 1: The Technical Data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6543675" y="2625412"/>
            <a:ext cx="554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'Real Time AI Agent'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543675" y="3158812"/>
            <a:ext cx="5277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This is the core of the workflow. It's a powerful node that can: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543675" y="4816162"/>
            <a:ext cx="5277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It acts as the "brain" that coordinates all the data and tools.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543675" y="3500437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781800" y="3587437"/>
            <a:ext cx="5038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Receive the merged technical data.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543675" y="3900487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781800" y="3987487"/>
            <a:ext cx="5038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Connect to a chat model (like Google Gemini).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543675" y="4300537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781800" y="4387537"/>
            <a:ext cx="5038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Connect to and use tools (like SerpApi).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Part 2: The AI "Brain"</a:t>
            </a:r>
            <a:endParaRPr/>
          </a:p>
        </p:txBody>
      </p:sp>
      <p:pic>
        <p:nvPicPr>
          <p:cNvPr id="179" name="Google Shape;1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364400"/>
            <a:ext cx="6255024" cy="297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81225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82800" y="2166575"/>
            <a:ext cx="554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Giving the AI a Tool: SerpApi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82800" y="2699975"/>
            <a:ext cx="5277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This is what makes the bot truly "smart." The AI isn't just summarizing the data we give it.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82800" y="3385775"/>
            <a:ext cx="5277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Based on our prompt, the AI *decides* to use the `SerpApi` tool. It formulates its own search query (e.g., "Microsoft financial news") to find the "why" behind the price trend, all in real-time.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Part 3: The "Agentic" Tool</a:t>
            </a:r>
            <a:endParaRPr/>
          </a:p>
        </p:txBody>
      </p:sp>
      <p:pic>
        <p:nvPicPr>
          <p:cNvPr id="190" name="Google Shape;19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7875" y="2022350"/>
            <a:ext cx="6334125" cy="2813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1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1969740" y="1336774"/>
            <a:ext cx="8157000" cy="4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You are a financial analyst agent. Your goal is to provide a comprehensive analysis.</a:t>
            </a:r>
            <a:endParaRPr sz="11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First, you will be given technical data from the previous node. This includes:</a:t>
            </a:r>
            <a:endParaRPr sz="11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- `recent_prices`: 5-day price history</a:t>
            </a:r>
            <a:endParaRPr sz="11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- `latest_sma`: 20-day SMA</a:t>
            </a:r>
            <a:endParaRPr sz="11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- `company_name`: The company's name</a:t>
            </a:r>
            <a:endParaRPr sz="11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Second, you MUST use the `SerpApi` tool to find out *why* the price has moved. Formulate a good `search_query` (like the company's name + "financial news") to get this context.</a:t>
            </a:r>
            <a:endParaRPr sz="11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Finally, synthesize *all* information (technicals + news) into a single, comprehensive answer for the user.</a:t>
            </a:r>
            <a:endParaRPr sz="11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Your final answer to the user must include:</a:t>
            </a:r>
            <a:endParaRPr sz="11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1.  **Technical Trend:** The 5-day price trend.</a:t>
            </a:r>
            <a:endParaRPr sz="11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2.  **Momentum:** If the price is above/below the 20-day SMA.</a:t>
            </a:r>
            <a:endParaRPr sz="11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3.  **News Context:** The *most important* news headline or snippet that seems to be driving the price.</a:t>
            </a:r>
            <a:endParaRPr sz="11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**IMPORTANT:** Do not give any financial advice, predictions, or suggestions to buy, hold, or sell.</a:t>
            </a:r>
            <a:endParaRPr sz="11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1683990" y="1336774"/>
            <a:ext cx="47625" cy="4479726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3962251" y="6102250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A0C0"/>
                </a:solidFill>
                <a:latin typeface="Urbanist"/>
                <a:ea typeface="Urbanist"/>
                <a:cs typeface="Urbanist"/>
                <a:sym typeface="Urbanist"/>
              </a:rPr>
              <a:t>— System Message for the Real Time AI Agent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581025" y="498574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Master Prompt: AI Instructions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581025" y="581025"/>
            <a:ext cx="55406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Final Synthesis</a:t>
            </a:r>
            <a:endParaRPr/>
          </a:p>
        </p:txBody>
      </p:sp>
      <p:pic>
        <p:nvPicPr>
          <p:cNvPr descr="image.png" id="206" name="Google Shape;20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9525"/>
            <a:ext cx="3033563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581025" y="1419225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One Message, Full Context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581025" y="2095500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The final output combines all three data points into a single, easy-to-read analysis: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581025" y="4044255"/>
            <a:ext cx="5276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All of this is generated in seconds from a single user message.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885825" y="2948880"/>
            <a:ext cx="76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1.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962025" y="2948880"/>
            <a:ext cx="48958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Technical Trend:</a:t>
            </a: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 The 5-day price action.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838200" y="3206055"/>
            <a:ext cx="1238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2.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962025" y="3206055"/>
            <a:ext cx="48958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Momentum:</a:t>
            </a: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 The price vs. its 20-day SMA.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847725" y="3463230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3.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962025" y="3463230"/>
            <a:ext cx="48958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News Context:</a:t>
            </a: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 The key headlines that are driving the movement.</a:t>
            </a:r>
            <a:endParaRPr/>
          </a:p>
        </p:txBody>
      </p:sp>
      <p:pic>
        <p:nvPicPr>
          <p:cNvPr id="216" name="Google Shape;21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1713" y="939088"/>
            <a:ext cx="5572125" cy="47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2190750" y="2566987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Persistent Logging:</a:t>
            </a: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 Use the Google Sheets node as a tool to log every analysis the bot performs for future reference.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2190750" y="3271837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More Indicators:</a:t>
            </a: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Add more parallel branches to fetch other indicators like `RSI` or `MACD` and feed them to the AI.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2190750" y="3976687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Batch Processing:</a:t>
            </a: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 Add a Google Sheets *trigger* to run the analysis on a list of 20 stocks every morning.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2190750" y="4424362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Robust Error Handling:</a:t>
            </a:r>
            <a:r>
              <a:rPr b="0" i="0" lang="en-US" sz="135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 Add `IF` nodes to check for bad API responses (e.g., from a fake ticker) and send a friendly error message.</a:t>
            </a:r>
            <a:endParaRPr/>
          </a:p>
        </p:txBody>
      </p:sp>
      <p:pic>
        <p:nvPicPr>
          <p:cNvPr descr="image.png" id="226" name="Google Shape;22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61461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31946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02431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47198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Future Enhancements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305276" y="2605087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581025" y="3729037"/>
            <a:ext cx="11029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A0C0"/>
                </a:solidFill>
                <a:latin typeface="Urbanist"/>
                <a:ea typeface="Urbanist"/>
                <a:cs typeface="Urbanist"/>
                <a:sym typeface="Urbanist"/>
              </a:rPr>
              <a:t>Thank you for your time.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6696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22421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08146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8529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5"/>
          <p:cNvSpPr/>
          <p:nvPr/>
        </p:nvSpPr>
        <p:spPr>
          <a:xfrm>
            <a:off x="581025" y="29860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581025" y="392906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81025" y="47005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0" name="Google Shape;25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3669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1676400" y="2374106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https://community.n8n.io/uploads/default/original/3X/9/0/9094f5847f102ea37b965502a6ddf94874104e01.png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1676400" y="2607468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community.n8n.io</a:t>
            </a:r>
            <a:endParaRPr/>
          </a:p>
        </p:txBody>
      </p:sp>
      <p:pic>
        <p:nvPicPr>
          <p:cNvPr descr="image.png" id="253" name="Google Shape;25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2242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1676400" y="3138487"/>
            <a:ext cx="9934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https://stack.convex.dev/_next/image?url=https%3A%2F%2Fcdn.sanity.io%2Fimages%2Fts10onj4%2Fproduction%2F49ce17fbf26b70c351ff6153d562369057aa8d3d-2198x1396.png&amp;w=3840&amp;q=75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1676400" y="3557587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stack.convex.dev</a:t>
            </a:r>
            <a:endParaRPr/>
          </a:p>
        </p:txBody>
      </p:sp>
      <p:pic>
        <p:nvPicPr>
          <p:cNvPr descr="image.png" id="256" name="Google Shape;256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0814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 txBox="1"/>
          <p:nvPr/>
        </p:nvSpPr>
        <p:spPr>
          <a:xfrm>
            <a:off x="1676400" y="4088606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https://learn-attachment.microsoft.com/api/attachments/c7623ca7-c617-476b-b4b5-627304c909a0?platform=QnA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1676400" y="4321968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learn.microsoft.com</a:t>
            </a:r>
            <a:endParaRPr/>
          </a:p>
        </p:txBody>
      </p:sp>
      <p:pic>
        <p:nvPicPr>
          <p:cNvPr descr="image.png" id="259" name="Google Shape;259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48529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1676400" y="4860131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https://i.ytimg.com/vi/2OVLa9WGrtg/hq720.jpg?sqp=-oaymwEhCK4FEIIDSFryq4qpAxMIARUAAAAAGAElAADIQj0AgKJD&amp;rs=AOn4CLDfr1vs40lbCPaZYVbpDyXfkWgJag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1676400" y="5093493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CDCD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www.youtube.com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